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F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" cy="5143500"/>
          </a:xfrm>
          <a:prstGeom prst="rect">
            <a:avLst/>
          </a:prstGeom>
          <a:solidFill>
            <a:srgbClr val="E24B4A">
              <a:alpha val="6000"/>
            </a:srgbClr>
          </a:solidFill>
          <a:ln w="12700">
            <a:solidFill>
              <a:srgbClr val="E24B4A">
                <a:alpha val="6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4572" cy="5143500"/>
          </a:xfrm>
          <a:prstGeom prst="rect">
            <a:avLst/>
          </a:prstGeom>
          <a:solidFill>
            <a:srgbClr val="E24B4A">
              <a:alpha val="6000"/>
            </a:srgbClr>
          </a:solidFill>
          <a:ln w="12700">
            <a:solidFill>
              <a:srgbClr val="E24B4A">
                <a:alpha val="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4572" cy="5143500"/>
          </a:xfrm>
          <a:prstGeom prst="rect">
            <a:avLst/>
          </a:prstGeom>
          <a:solidFill>
            <a:srgbClr val="E24B4A">
              <a:alpha val="6000"/>
            </a:srgbClr>
          </a:solidFill>
          <a:ln w="12700">
            <a:solidFill>
              <a:srgbClr val="E24B4A">
                <a:alpha val="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4572" cy="5143500"/>
          </a:xfrm>
          <a:prstGeom prst="rect">
            <a:avLst/>
          </a:prstGeom>
          <a:solidFill>
            <a:srgbClr val="E24B4A">
              <a:alpha val="6000"/>
            </a:srgbClr>
          </a:solidFill>
          <a:ln w="12700">
            <a:solidFill>
              <a:srgbClr val="E24B4A">
                <a:alpha val="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4572" cy="5143500"/>
          </a:xfrm>
          <a:prstGeom prst="rect">
            <a:avLst/>
          </a:prstGeom>
          <a:solidFill>
            <a:srgbClr val="E24B4A">
              <a:alpha val="6000"/>
            </a:srgbClr>
          </a:solidFill>
          <a:ln w="12700">
            <a:solidFill>
              <a:srgbClr val="E24B4A">
                <a:alpha val="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4572" cy="5143500"/>
          </a:xfrm>
          <a:prstGeom prst="rect">
            <a:avLst/>
          </a:prstGeom>
          <a:solidFill>
            <a:srgbClr val="E24B4A">
              <a:alpha val="6000"/>
            </a:srgbClr>
          </a:solidFill>
          <a:ln w="12700">
            <a:solidFill>
              <a:srgbClr val="E24B4A">
                <a:alpha val="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0"/>
            <a:ext cx="4572" cy="5143500"/>
          </a:xfrm>
          <a:prstGeom prst="rect">
            <a:avLst/>
          </a:prstGeom>
          <a:solidFill>
            <a:srgbClr val="E24B4A">
              <a:alpha val="6000"/>
            </a:srgbClr>
          </a:solidFill>
          <a:ln w="12700">
            <a:solidFill>
              <a:srgbClr val="E24B4A">
                <a:alpha val="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0"/>
            <a:ext cx="4572" cy="5143500"/>
          </a:xfrm>
          <a:prstGeom prst="rect">
            <a:avLst/>
          </a:prstGeom>
          <a:solidFill>
            <a:srgbClr val="E24B4A">
              <a:alpha val="6000"/>
            </a:srgbClr>
          </a:solidFill>
          <a:ln w="12700">
            <a:solidFill>
              <a:srgbClr val="E24B4A">
                <a:alpha val="6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0"/>
            <a:ext cx="4572" cy="5143500"/>
          </a:xfrm>
          <a:prstGeom prst="rect">
            <a:avLst/>
          </a:prstGeom>
          <a:solidFill>
            <a:srgbClr val="E24B4A">
              <a:alpha val="6000"/>
            </a:srgbClr>
          </a:solidFill>
          <a:ln w="12700">
            <a:solidFill>
              <a:srgbClr val="E24B4A">
                <a:alpha val="6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0"/>
            <a:ext cx="4572" cy="5143500"/>
          </a:xfrm>
          <a:prstGeom prst="rect">
            <a:avLst/>
          </a:prstGeom>
          <a:solidFill>
            <a:srgbClr val="E24B4A">
              <a:alpha val="6000"/>
            </a:srgbClr>
          </a:solidFill>
          <a:ln w="12700">
            <a:solidFill>
              <a:srgbClr val="E24B4A">
                <a:alpha val="6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0"/>
            <a:ext cx="9144000" cy="4572"/>
          </a:xfrm>
          <a:prstGeom prst="rect">
            <a:avLst/>
          </a:prstGeom>
          <a:solidFill>
            <a:srgbClr val="E24B4A">
              <a:alpha val="6000"/>
            </a:srgbClr>
          </a:solidFill>
          <a:ln w="12700">
            <a:solidFill>
              <a:srgbClr val="E24B4A">
                <a:alpha val="6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914400"/>
            <a:ext cx="9144000" cy="4572"/>
          </a:xfrm>
          <a:prstGeom prst="rect">
            <a:avLst/>
          </a:prstGeom>
          <a:solidFill>
            <a:srgbClr val="E24B4A">
              <a:alpha val="6000"/>
            </a:srgbClr>
          </a:solidFill>
          <a:ln w="12700">
            <a:solidFill>
              <a:srgbClr val="E24B4A">
                <a:alpha val="6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1828800"/>
            <a:ext cx="9144000" cy="4572"/>
          </a:xfrm>
          <a:prstGeom prst="rect">
            <a:avLst/>
          </a:prstGeom>
          <a:solidFill>
            <a:srgbClr val="E24B4A">
              <a:alpha val="6000"/>
            </a:srgbClr>
          </a:solidFill>
          <a:ln w="12700">
            <a:solidFill>
              <a:srgbClr val="E24B4A">
                <a:alpha val="6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2743200"/>
            <a:ext cx="9144000" cy="4572"/>
          </a:xfrm>
          <a:prstGeom prst="rect">
            <a:avLst/>
          </a:prstGeom>
          <a:solidFill>
            <a:srgbClr val="E24B4A">
              <a:alpha val="6000"/>
            </a:srgbClr>
          </a:solidFill>
          <a:ln w="12700">
            <a:solidFill>
              <a:srgbClr val="E24B4A">
                <a:alpha val="6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657600"/>
            <a:ext cx="9144000" cy="4572"/>
          </a:xfrm>
          <a:prstGeom prst="rect">
            <a:avLst/>
          </a:prstGeom>
          <a:solidFill>
            <a:srgbClr val="E24B4A">
              <a:alpha val="6000"/>
            </a:srgbClr>
          </a:solidFill>
          <a:ln w="12700">
            <a:solidFill>
              <a:srgbClr val="E24B4A">
                <a:alpha val="6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4572000"/>
            <a:ext cx="9144000" cy="4572"/>
          </a:xfrm>
          <a:prstGeom prst="rect">
            <a:avLst/>
          </a:prstGeom>
          <a:solidFill>
            <a:srgbClr val="E24B4A">
              <a:alpha val="6000"/>
            </a:srgbClr>
          </a:solidFill>
          <a:ln w="12700">
            <a:solidFill>
              <a:srgbClr val="E24B4A">
                <a:alpha val="6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840480" y="457200"/>
            <a:ext cx="1463040" cy="1463040"/>
          </a:xfrm>
          <a:prstGeom prst="ellipse">
            <a:avLst/>
          </a:prstGeom>
          <a:solidFill>
            <a:srgbClr val="E24B4A">
              <a:alpha val="15000"/>
            </a:srgbClr>
          </a:solidFill>
          <a:ln w="12700">
            <a:solidFill>
              <a:srgbClr val="E24B4A">
                <a:alpha val="1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297680" y="548640"/>
            <a:ext cx="548640" cy="822960"/>
          </a:xfrm>
          <a:prstGeom prst="ellipse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343400" y="777240"/>
            <a:ext cx="457200" cy="457200"/>
          </a:xfrm>
          <a:prstGeom prst="ellipse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645920" y="155448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0" b="1" dirty="0">
                <a:solidFill>
                  <a:srgbClr val="F0EDE8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FIRE</a:t>
            </a:r>
            <a:endParaRPr lang="en-US" sz="7200" dirty="0"/>
          </a:p>
        </p:txBody>
      </p:sp>
      <p:sp>
        <p:nvSpPr>
          <p:cNvPr id="22" name="Text 20"/>
          <p:cNvSpPr/>
          <p:nvPr/>
        </p:nvSpPr>
        <p:spPr>
          <a:xfrm>
            <a:off x="4572000" y="155448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E24B4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BOT</a:t>
            </a:r>
            <a:endParaRPr lang="en-US" sz="7200" dirty="0"/>
          </a:p>
        </p:txBody>
      </p:sp>
      <p:sp>
        <p:nvSpPr>
          <p:cNvPr id="23" name="Text 21"/>
          <p:cNvSpPr/>
          <p:nvPr/>
        </p:nvSpPr>
        <p:spPr>
          <a:xfrm>
            <a:off x="1371600" y="26517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spc="300" kern="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Bluetooth Fire-Fighting Robot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3200400" y="3200400"/>
            <a:ext cx="2743200" cy="22860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88720" y="3429000"/>
            <a:ext cx="1554480" cy="347472"/>
          </a:xfrm>
          <a:prstGeom prst="roundRect">
            <a:avLst>
              <a:gd name="adj" fmla="val 13158"/>
            </a:avLst>
          </a:prstGeom>
          <a:solidFill>
            <a:srgbClr val="222220"/>
          </a:solidFill>
          <a:ln w="6350">
            <a:solidFill>
              <a:srgbClr val="E24B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88720" y="342900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HC-05 Bluetooth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017520" y="3429000"/>
            <a:ext cx="1554480" cy="347472"/>
          </a:xfrm>
          <a:prstGeom prst="roundRect">
            <a:avLst>
              <a:gd name="adj" fmla="val 13158"/>
            </a:avLst>
          </a:prstGeom>
          <a:solidFill>
            <a:srgbClr val="222220"/>
          </a:solidFill>
          <a:ln w="6350">
            <a:solidFill>
              <a:srgbClr val="E24B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017520" y="342900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Nano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846320" y="3429000"/>
            <a:ext cx="1554480" cy="347472"/>
          </a:xfrm>
          <a:prstGeom prst="roundRect">
            <a:avLst>
              <a:gd name="adj" fmla="val 13158"/>
            </a:avLst>
          </a:prstGeom>
          <a:solidFill>
            <a:srgbClr val="222220"/>
          </a:solidFill>
          <a:ln w="6350">
            <a:solidFill>
              <a:srgbClr val="E24B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342900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Serial API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675120" y="3429000"/>
            <a:ext cx="1554480" cy="347472"/>
          </a:xfrm>
          <a:prstGeom prst="roundRect">
            <a:avLst>
              <a:gd name="adj" fmla="val 13158"/>
            </a:avLst>
          </a:prstGeom>
          <a:solidFill>
            <a:srgbClr val="222220"/>
          </a:solidFill>
          <a:ln w="6350">
            <a:solidFill>
              <a:srgbClr val="E24B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75120" y="342900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L298N Motor Driver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828800" y="4206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Principle &amp; System Architecture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0F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EDE8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SYSTEM OVERVIEW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components and how they connect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274320"/>
            <a:ext cx="45720" cy="502920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280160"/>
            <a:ext cx="2651760" cy="3474720"/>
          </a:xfrm>
          <a:prstGeom prst="rect">
            <a:avLst/>
          </a:prstGeom>
          <a:solidFill>
            <a:srgbClr val="1E1D1B"/>
          </a:solidFill>
          <a:ln w="9525">
            <a:solidFill>
              <a:srgbClr val="4A90D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80160"/>
            <a:ext cx="2651760" cy="5029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801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EDE8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💻  CONTROLLER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" y="1993392"/>
            <a:ext cx="2432304" cy="502920"/>
          </a:xfrm>
          <a:prstGeom prst="rect">
            <a:avLst/>
          </a:prstGeom>
          <a:solidFill>
            <a:srgbClr val="222220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993392"/>
            <a:ext cx="2432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 / Edge browser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" y="2651760"/>
            <a:ext cx="2432304" cy="502920"/>
          </a:xfrm>
          <a:prstGeom prst="rect">
            <a:avLst/>
          </a:prstGeom>
          <a:solidFill>
            <a:srgbClr val="222220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2651760"/>
            <a:ext cx="2432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Serial API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" y="3310128"/>
            <a:ext cx="2432304" cy="502920"/>
          </a:xfrm>
          <a:prstGeom prst="rect">
            <a:avLst/>
          </a:prstGeom>
          <a:solidFill>
            <a:srgbClr val="222220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3310128"/>
            <a:ext cx="2432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Bluetooth HTML UI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" y="3968496"/>
            <a:ext cx="2432304" cy="502920"/>
          </a:xfrm>
          <a:prstGeom prst="rect">
            <a:avLst/>
          </a:prstGeom>
          <a:solidFill>
            <a:srgbClr val="222220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3968496"/>
            <a:ext cx="2432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CMD send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337560" y="1280160"/>
            <a:ext cx="2651760" cy="3474720"/>
          </a:xfrm>
          <a:prstGeom prst="rect">
            <a:avLst/>
          </a:prstGeom>
          <a:solidFill>
            <a:srgbClr val="1E1D1B"/>
          </a:solidFill>
          <a:ln w="9525">
            <a:solidFill>
              <a:srgbClr val="E24B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337560" y="1280160"/>
            <a:ext cx="2651760" cy="502920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37560" y="12801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EDE8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⚙️  ROBOT BRAIN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47288" y="1993392"/>
            <a:ext cx="2432304" cy="502920"/>
          </a:xfrm>
          <a:prstGeom prst="rect">
            <a:avLst/>
          </a:prstGeom>
          <a:solidFill>
            <a:srgbClr val="222220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47288" y="1993392"/>
            <a:ext cx="2432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Nano / Uno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47288" y="2651760"/>
            <a:ext cx="2432304" cy="502920"/>
          </a:xfrm>
          <a:prstGeom prst="rect">
            <a:avLst/>
          </a:prstGeom>
          <a:solidFill>
            <a:srgbClr val="222220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47288" y="2651760"/>
            <a:ext cx="2432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HC-05 Bluetooth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447288" y="3310128"/>
            <a:ext cx="2432304" cy="502920"/>
          </a:xfrm>
          <a:prstGeom prst="rect">
            <a:avLst/>
          </a:prstGeom>
          <a:solidFill>
            <a:srgbClr val="222220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47288" y="3310128"/>
            <a:ext cx="2432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L298N Motor Driver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447288" y="3968496"/>
            <a:ext cx="2432304" cy="502920"/>
          </a:xfrm>
          <a:prstGeom prst="rect">
            <a:avLst/>
          </a:prstGeom>
          <a:solidFill>
            <a:srgbClr val="222220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47288" y="3968496"/>
            <a:ext cx="2432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Servo + Relay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309360" y="1280160"/>
            <a:ext cx="2651760" cy="3474720"/>
          </a:xfrm>
          <a:prstGeom prst="rect">
            <a:avLst/>
          </a:prstGeom>
          <a:solidFill>
            <a:srgbClr val="1E1D1B"/>
          </a:solidFill>
          <a:ln w="9525">
            <a:solidFill>
              <a:srgbClr val="63C92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309360" y="1280160"/>
            <a:ext cx="2651760" cy="502920"/>
          </a:xfrm>
          <a:prstGeom prst="rect">
            <a:avLst/>
          </a:prstGeom>
          <a:solidFill>
            <a:srgbClr val="63C920"/>
          </a:solidFill>
          <a:ln w="12700">
            <a:solidFill>
              <a:srgbClr val="63C92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09360" y="12801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EDE8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🔥  SENSORS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419088" y="1993392"/>
            <a:ext cx="2432304" cy="502920"/>
          </a:xfrm>
          <a:prstGeom prst="rect">
            <a:avLst/>
          </a:prstGeom>
          <a:solidFill>
            <a:srgbClr val="222220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19088" y="1993392"/>
            <a:ext cx="2432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Flame sensor (digital)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419088" y="2651760"/>
            <a:ext cx="2432304" cy="502920"/>
          </a:xfrm>
          <a:prstGeom prst="rect">
            <a:avLst/>
          </a:prstGeom>
          <a:solidFill>
            <a:srgbClr val="222220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19088" y="2651760"/>
            <a:ext cx="2432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DHT11 Temperature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419088" y="3310128"/>
            <a:ext cx="2432304" cy="502920"/>
          </a:xfrm>
          <a:prstGeom prst="rect">
            <a:avLst/>
          </a:prstGeom>
          <a:solidFill>
            <a:srgbClr val="222220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19088" y="3310128"/>
            <a:ext cx="2432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HC-SR04 Ultrasonic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419088" y="3968496"/>
            <a:ext cx="2432304" cy="502920"/>
          </a:xfrm>
          <a:prstGeom prst="rect">
            <a:avLst/>
          </a:prstGeom>
          <a:solidFill>
            <a:srgbClr val="222220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19088" y="3968496"/>
            <a:ext cx="2432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data to UI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035808" y="2743200"/>
            <a:ext cx="301752" cy="22860"/>
          </a:xfrm>
          <a:prstGeom prst="rect">
            <a:avLst/>
          </a:prstGeom>
          <a:solidFill>
            <a:srgbClr val="888780"/>
          </a:solidFill>
          <a:ln w="12700">
            <a:solidFill>
              <a:srgbClr val="88878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035808" y="2606040"/>
            <a:ext cx="301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24B4A"/>
                </a:solidFill>
              </a:rPr>
              <a:t>⟶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2944368" y="283464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CMD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Bluetooth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6007608" y="2743200"/>
            <a:ext cx="301752" cy="22860"/>
          </a:xfrm>
          <a:prstGeom prst="rect">
            <a:avLst/>
          </a:prstGeom>
          <a:solidFill>
            <a:srgbClr val="888780"/>
          </a:solidFill>
          <a:ln w="12700">
            <a:solidFill>
              <a:srgbClr val="88878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007608" y="2606040"/>
            <a:ext cx="301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24B4A"/>
                </a:solidFill>
              </a:rPr>
              <a:t>⟶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5916168" y="283464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0F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EDE8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COMMUNICATION FLOW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HC-05 Bluetooth ↔ Web Serial API ↔ Arduino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274320"/>
            <a:ext cx="45720" cy="502920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371600"/>
            <a:ext cx="1920240" cy="2286000"/>
          </a:xfrm>
          <a:prstGeom prst="rect">
            <a:avLst/>
          </a:prstGeom>
          <a:solidFill>
            <a:srgbClr val="1E1D1B"/>
          </a:solidFill>
          <a:ln w="12700">
            <a:solidFill>
              <a:srgbClr val="4A90D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5087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🖥️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65760" y="21488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90D9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Browser UI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60604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 / Edge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Serial API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115568" y="1371600"/>
            <a:ext cx="365760" cy="365760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5568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EDE8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304288" y="219456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24B4A"/>
                </a:solidFill>
              </a:rPr>
              <a:t>▶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560320" y="1371600"/>
            <a:ext cx="1920240" cy="2286000"/>
          </a:xfrm>
          <a:prstGeom prst="rect">
            <a:avLst/>
          </a:prstGeom>
          <a:solidFill>
            <a:srgbClr val="1E1D1B"/>
          </a:solidFill>
          <a:ln w="12700">
            <a:solidFill>
              <a:srgbClr val="E24B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560320" y="15087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📡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560320" y="21488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4B4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HC-05 Module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651760" y="260604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Paired via Windows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Bluetooth Settings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310128" y="1371600"/>
            <a:ext cx="365760" cy="365760"/>
          </a:xfrm>
          <a:prstGeom prst="ellipse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10128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EDE8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498848" y="219456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24B4A"/>
                </a:solidFill>
              </a:rPr>
              <a:t>▶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754880" y="1371600"/>
            <a:ext cx="1920240" cy="2286000"/>
          </a:xfrm>
          <a:prstGeom prst="rect">
            <a:avLst/>
          </a:prstGeom>
          <a:solidFill>
            <a:srgbClr val="1E1D1B"/>
          </a:solidFill>
          <a:ln w="12700">
            <a:solidFill>
              <a:srgbClr val="63C92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754880" y="15087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🤖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4754880" y="21488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3C92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Arduino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46320" y="260604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9600 baud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Serial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504688" y="1371600"/>
            <a:ext cx="365760" cy="365760"/>
          </a:xfrm>
          <a:prstGeom prst="ellipse">
            <a:avLst/>
          </a:prstGeom>
          <a:solidFill>
            <a:srgbClr val="63C920"/>
          </a:solidFill>
          <a:ln w="12700">
            <a:solidFill>
              <a:srgbClr val="63C92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04688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EDE8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693408" y="219456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24B4A"/>
                </a:solidFill>
              </a:rPr>
              <a:t>▶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949440" y="1371600"/>
            <a:ext cx="1920240" cy="2286000"/>
          </a:xfrm>
          <a:prstGeom prst="rect">
            <a:avLst/>
          </a:prstGeom>
          <a:solidFill>
            <a:srgbClr val="1E1D1B"/>
          </a:solidFill>
          <a:ln w="12700">
            <a:solidFill>
              <a:srgbClr val="EF9F2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949440" y="15087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6949440" y="21488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9F27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Actuators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040880" y="260604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Motors / Pump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Servo / LEDs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699248" y="1371600"/>
            <a:ext cx="365760" cy="365760"/>
          </a:xfrm>
          <a:prstGeom prst="ellipse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99248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EDE8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4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3794760"/>
            <a:ext cx="8412480" cy="1005840"/>
          </a:xfrm>
          <a:prstGeom prst="rect">
            <a:avLst/>
          </a:prstGeom>
          <a:solidFill>
            <a:srgbClr val="222220"/>
          </a:solidFill>
          <a:ln w="12700">
            <a:solidFill>
              <a:srgbClr val="22222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PROTOCOL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57200" y="41605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9F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 / B / L / R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57200" y="43891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Movement commands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2148840" y="41605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9F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2148840" y="43891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stop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840480" y="41605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9F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SPD:150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840480" y="43891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PWM speed 0–255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532120" y="41605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9F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P1 / P0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32120" y="43891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Pump ON / OFF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7223760" y="41605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9F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FLAME:1 TEMP:28 DIST:35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223760" y="43891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data (every 500ms)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0F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EDE8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MOTOR CONTROL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L298N H-Bridge driver with PWM speed control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274320"/>
            <a:ext cx="45720" cy="502920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280160"/>
            <a:ext cx="7223760" cy="438912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0624" y="1335024"/>
            <a:ext cx="1344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0EDE8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Command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856232" y="1335024"/>
            <a:ext cx="521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EDE8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IN1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468880" y="1335024"/>
            <a:ext cx="521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EDE8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IN2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081528" y="1335024"/>
            <a:ext cx="521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EDE8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IN3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94176" y="1335024"/>
            <a:ext cx="521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EDE8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IN4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06824" y="1335024"/>
            <a:ext cx="521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EDE8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ENA/B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919472" y="1335024"/>
            <a:ext cx="2624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0EDE8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Result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1719072"/>
            <a:ext cx="7223760" cy="438912"/>
          </a:xfrm>
          <a:prstGeom prst="rect">
            <a:avLst/>
          </a:prstGeom>
          <a:solidFill>
            <a:srgbClr val="1E1D1B"/>
          </a:solidFill>
          <a:ln w="12700">
            <a:solidFill>
              <a:srgbClr val="1E1D1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0624" y="1773936"/>
            <a:ext cx="1344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— Forward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856232" y="1773936"/>
            <a:ext cx="521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3C9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468880" y="1773936"/>
            <a:ext cx="521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7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081528" y="1773936"/>
            <a:ext cx="521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3C9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94176" y="1773936"/>
            <a:ext cx="521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7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306824" y="1773936"/>
            <a:ext cx="521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3C9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PWM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19472" y="1773936"/>
            <a:ext cx="2624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motors forward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2157984"/>
            <a:ext cx="7223760" cy="438912"/>
          </a:xfrm>
          <a:prstGeom prst="rect">
            <a:avLst/>
          </a:prstGeom>
          <a:solidFill>
            <a:srgbClr val="222220"/>
          </a:solidFill>
          <a:ln w="12700">
            <a:solidFill>
              <a:srgbClr val="22222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0624" y="2212848"/>
            <a:ext cx="1344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— Backward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856232" y="2212848"/>
            <a:ext cx="521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7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468880" y="2212848"/>
            <a:ext cx="521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3C9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081528" y="2212848"/>
            <a:ext cx="521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7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694176" y="2212848"/>
            <a:ext cx="521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3C9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306824" y="2212848"/>
            <a:ext cx="521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3C9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PWM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919472" y="2212848"/>
            <a:ext cx="2624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motors reverse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2596896"/>
            <a:ext cx="7223760" cy="438912"/>
          </a:xfrm>
          <a:prstGeom prst="rect">
            <a:avLst/>
          </a:prstGeom>
          <a:solidFill>
            <a:srgbClr val="1E1D1B"/>
          </a:solidFill>
          <a:ln w="12700">
            <a:solidFill>
              <a:srgbClr val="1E1D1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20624" y="2651760"/>
            <a:ext cx="1344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— Left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856232" y="2651760"/>
            <a:ext cx="521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7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468880" y="2651760"/>
            <a:ext cx="521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3C9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081528" y="2651760"/>
            <a:ext cx="521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3C9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694176" y="2651760"/>
            <a:ext cx="521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7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306824" y="2651760"/>
            <a:ext cx="521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3C9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PWM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919472" y="2651760"/>
            <a:ext cx="2624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back, Right fwd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65760" y="3035808"/>
            <a:ext cx="7223760" cy="438912"/>
          </a:xfrm>
          <a:prstGeom prst="rect">
            <a:avLst/>
          </a:prstGeom>
          <a:solidFill>
            <a:srgbClr val="222220"/>
          </a:solidFill>
          <a:ln w="12700">
            <a:solidFill>
              <a:srgbClr val="22222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20624" y="3090672"/>
            <a:ext cx="1344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— Right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856232" y="3090672"/>
            <a:ext cx="521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3C9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468880" y="3090672"/>
            <a:ext cx="521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7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081528" y="3090672"/>
            <a:ext cx="521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7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694176" y="3090672"/>
            <a:ext cx="521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3C9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306824" y="3090672"/>
            <a:ext cx="521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3C9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PWM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919472" y="3090672"/>
            <a:ext cx="2624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fwd, Right back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65760" y="3474720"/>
            <a:ext cx="7223760" cy="438912"/>
          </a:xfrm>
          <a:prstGeom prst="rect">
            <a:avLst/>
          </a:prstGeom>
          <a:solidFill>
            <a:srgbClr val="1E1D1B"/>
          </a:solidFill>
          <a:ln w="12700">
            <a:solidFill>
              <a:srgbClr val="1E1D1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20624" y="3529584"/>
            <a:ext cx="1344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— Stop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1856232" y="3529584"/>
            <a:ext cx="521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7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2468880" y="3529584"/>
            <a:ext cx="521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7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3081528" y="3529584"/>
            <a:ext cx="521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7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3694176" y="3529584"/>
            <a:ext cx="521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7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4306824" y="3529584"/>
            <a:ext cx="521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7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4919472" y="3529584"/>
            <a:ext cx="2624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motors off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7680960" y="1280160"/>
            <a:ext cx="1097280" cy="3200400"/>
          </a:xfrm>
          <a:prstGeom prst="rect">
            <a:avLst/>
          </a:prstGeom>
          <a:solidFill>
            <a:srgbClr val="1E1D1B"/>
          </a:solidFill>
          <a:ln w="9525">
            <a:solidFill>
              <a:srgbClr val="E24B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7680960" y="137160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4B4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SPEED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24B4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CONTROL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7726680" y="1965960"/>
            <a:ext cx="822960" cy="256032"/>
          </a:xfrm>
          <a:prstGeom prst="rect">
            <a:avLst/>
          </a:prstGeom>
          <a:solidFill>
            <a:srgbClr val="222220"/>
          </a:solidFill>
          <a:ln w="12700">
            <a:solidFill>
              <a:srgbClr val="22222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726680" y="1965960"/>
            <a:ext cx="777240" cy="256032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726680" y="1965960"/>
            <a:ext cx="822960" cy="256032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0ED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255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7726680" y="196596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2540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7726680" y="2423160"/>
            <a:ext cx="822960" cy="256032"/>
          </a:xfrm>
          <a:prstGeom prst="rect">
            <a:avLst/>
          </a:prstGeom>
          <a:solidFill>
            <a:srgbClr val="222220"/>
          </a:solidFill>
          <a:ln w="12700">
            <a:solidFill>
              <a:srgbClr val="22222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726680" y="2423160"/>
            <a:ext cx="609600" cy="256032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726680" y="2423160"/>
            <a:ext cx="822960" cy="256032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0ED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7726680" y="242316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2540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7726680" y="2880360"/>
            <a:ext cx="822960" cy="256032"/>
          </a:xfrm>
          <a:prstGeom prst="rect">
            <a:avLst/>
          </a:prstGeom>
          <a:solidFill>
            <a:srgbClr val="222220"/>
          </a:solidFill>
          <a:ln w="12700">
            <a:solidFill>
              <a:srgbClr val="22222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726680" y="2880360"/>
            <a:ext cx="457200" cy="256032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726680" y="2880360"/>
            <a:ext cx="822960" cy="256032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0ED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150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7726680" y="288036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2540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59%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7726680" y="3337560"/>
            <a:ext cx="822960" cy="256032"/>
          </a:xfrm>
          <a:prstGeom prst="rect">
            <a:avLst/>
          </a:prstGeom>
          <a:solidFill>
            <a:srgbClr val="222220"/>
          </a:solidFill>
          <a:ln w="12700">
            <a:solidFill>
              <a:srgbClr val="22222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726680" y="3337560"/>
            <a:ext cx="304800" cy="256032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726680" y="3337560"/>
            <a:ext cx="822960" cy="256032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0ED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7726680" y="333756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2540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39%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7726680" y="3794760"/>
            <a:ext cx="822960" cy="256032"/>
          </a:xfrm>
          <a:prstGeom prst="rect">
            <a:avLst/>
          </a:prstGeom>
          <a:solidFill>
            <a:srgbClr val="222220"/>
          </a:solidFill>
          <a:ln w="12700">
            <a:solidFill>
              <a:srgbClr val="22222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726680" y="3794760"/>
            <a:ext cx="822960" cy="256032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0ED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7726680" y="379476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2540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speed sent as SPD:N (0–255 PWM).  Auto-stop command (S) issued on button release or page close.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F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EDE8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SENSOR SYSTEM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sensors broadcast live data to the browser every 500 ms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274320"/>
            <a:ext cx="45720" cy="502920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280160"/>
            <a:ext cx="2651760" cy="3520440"/>
          </a:xfrm>
          <a:prstGeom prst="rect">
            <a:avLst/>
          </a:prstGeom>
          <a:solidFill>
            <a:srgbClr val="1E1D1B"/>
          </a:solidFill>
          <a:ln w="12700">
            <a:solidFill>
              <a:srgbClr val="E24B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80160"/>
            <a:ext cx="2651760" cy="457200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801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EDE8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🔥  FLAME SENSOR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5488" y="1874520"/>
            <a:ext cx="2432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75488" y="2103120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8 (Digital)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5488" y="2651760"/>
            <a:ext cx="2432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75488" y="2880360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IR radiation from fire. Outputs LOW when flame present.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75488" y="3429000"/>
            <a:ext cx="2432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FORMAT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75488" y="3657600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FLAME:1 (fire) or FLAME:0 (clear)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5488" y="4206240"/>
            <a:ext cx="2432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ACTION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75488" y="4434840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alarm banner in UI. Auto mode activates pump.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91840" y="1280160"/>
            <a:ext cx="2651760" cy="3520440"/>
          </a:xfrm>
          <a:prstGeom prst="rect">
            <a:avLst/>
          </a:prstGeom>
          <a:solidFill>
            <a:srgbClr val="1E1D1B"/>
          </a:solidFill>
          <a:ln w="12700">
            <a:solidFill>
              <a:srgbClr val="EF9F2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91840" y="1280160"/>
            <a:ext cx="2651760" cy="457200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91840" y="12801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EDE8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🌡️  DHT11 TEMP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401568" y="1874520"/>
            <a:ext cx="2432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401568" y="2103120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3 (1-Wire)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401568" y="2651760"/>
            <a:ext cx="2432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401568" y="2880360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ambient temperature using capacitive humidity + NTC thermistor.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401568" y="3429000"/>
            <a:ext cx="2432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FORMAT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401568" y="3657600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TEMP:28.4 (°C, 1 decimal)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401568" y="4206240"/>
            <a:ext cx="2432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ACTION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401568" y="4434840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Displayed live in sensor panel. No auto-action.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217920" y="1280160"/>
            <a:ext cx="2651760" cy="3520440"/>
          </a:xfrm>
          <a:prstGeom prst="rect">
            <a:avLst/>
          </a:prstGeom>
          <a:solidFill>
            <a:srgbClr val="1E1D1B"/>
          </a:solidFill>
          <a:ln w="12700">
            <a:solidFill>
              <a:srgbClr val="4A90D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217920" y="1280160"/>
            <a:ext cx="2651760" cy="4572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0" y="12801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EDE8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📡  HC-SR04 ULTRASONIC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327648" y="1874520"/>
            <a:ext cx="2432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327648" y="2103120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Trig:12 / Echo:13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327648" y="2651760"/>
            <a:ext cx="2432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327648" y="2880360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40kHz pulse, measures echo return time → distance in cm.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327648" y="3429000"/>
            <a:ext cx="2432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FORMAT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327648" y="3657600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DIST:35 (cm, integer)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327648" y="4206240"/>
            <a:ext cx="2432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ACTION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327648" y="4434840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mode avoids obstacles &lt; 20 cm. Displayed in UI.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solidFill>
            <a:srgbClr val="222220"/>
          </a:solidFill>
          <a:ln w="12700">
            <a:solidFill>
              <a:srgbClr val="22222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" y="468172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broadcasts →  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651760" y="46817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9F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FLAME:1  TEMP:28.4  DIST:35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309360" y="468172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500 ms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0F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EDE8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FIRE FIGHTING LOGIC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control + Auto mode decision tree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274320"/>
            <a:ext cx="45720" cy="502920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280160"/>
            <a:ext cx="3474720" cy="3566160"/>
          </a:xfrm>
          <a:prstGeom prst="rect">
            <a:avLst/>
          </a:prstGeom>
          <a:solidFill>
            <a:srgbClr val="1E1D1B"/>
          </a:solidFill>
          <a:ln w="9525">
            <a:solidFill>
              <a:srgbClr val="E24B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80160"/>
            <a:ext cx="3474720" cy="411480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801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0EDE8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🕹️  MANUAL CONTROLS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1828800"/>
            <a:ext cx="3200400" cy="594360"/>
          </a:xfrm>
          <a:prstGeom prst="rect">
            <a:avLst/>
          </a:prstGeom>
          <a:solidFill>
            <a:srgbClr val="222220"/>
          </a:solidFill>
          <a:ln w="12700">
            <a:solidFill>
              <a:srgbClr val="222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82880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💧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05840" y="18288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DE8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Water Pump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05840" y="21031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relay on pump motor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606040" y="189280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9F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P1 / P0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02920" y="2560320"/>
            <a:ext cx="3200400" cy="594360"/>
          </a:xfrm>
          <a:prstGeom prst="rect">
            <a:avLst/>
          </a:prstGeom>
          <a:solidFill>
            <a:srgbClr val="222220"/>
          </a:solidFill>
          <a:ln w="12700">
            <a:solidFill>
              <a:srgbClr val="2222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56032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🔄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05840" y="25603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DE8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Servo Sweep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05840" y="28346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Oscillates nozzle 45°→135°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606040" y="262432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9F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V1 / V0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02920" y="3291840"/>
            <a:ext cx="3200400" cy="594360"/>
          </a:xfrm>
          <a:prstGeom prst="rect">
            <a:avLst/>
          </a:prstGeom>
          <a:solidFill>
            <a:srgbClr val="222220"/>
          </a:solidFill>
          <a:ln w="12700">
            <a:solidFill>
              <a:srgbClr val="22222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29184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🔔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05840" y="32918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DE8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Alarm Buzzer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05840" y="356616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Audible fire alert signal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606040" y="335584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9F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Z1 / Z0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02920" y="4023360"/>
            <a:ext cx="3200400" cy="594360"/>
          </a:xfrm>
          <a:prstGeom prst="rect">
            <a:avLst/>
          </a:prstGeom>
          <a:solidFill>
            <a:srgbClr val="222220"/>
          </a:solidFill>
          <a:ln w="12700">
            <a:solidFill>
              <a:srgbClr val="22222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402336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💡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05840" y="40233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DE8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Headlights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05840" y="429768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LED illumination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606040" y="408736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9F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D1 / D0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297680" y="1280160"/>
            <a:ext cx="4480560" cy="3566160"/>
          </a:xfrm>
          <a:prstGeom prst="rect">
            <a:avLst/>
          </a:prstGeom>
          <a:solidFill>
            <a:srgbClr val="1E1D1B"/>
          </a:solidFill>
          <a:ln w="9525">
            <a:solidFill>
              <a:srgbClr val="63C92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297680" y="1280160"/>
            <a:ext cx="4480560" cy="411480"/>
          </a:xfrm>
          <a:prstGeom prst="rect">
            <a:avLst/>
          </a:prstGeom>
          <a:solidFill>
            <a:srgbClr val="63C920"/>
          </a:solidFill>
          <a:ln w="12700">
            <a:solidFill>
              <a:srgbClr val="63C92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297680" y="128016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0F0E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🤖  AUTO MODE FLOW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623560" y="1783080"/>
            <a:ext cx="1463040" cy="41148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23560" y="17830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Sensors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(Flame + Distance)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172200" y="2212848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780"/>
                </a:solidFill>
              </a:rPr>
              <a:t>▼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623560" y="2331720"/>
            <a:ext cx="1463040" cy="502920"/>
          </a:xfrm>
          <a:prstGeom prst="rect">
            <a:avLst/>
          </a:prstGeom>
          <a:solidFill>
            <a:srgbClr val="222220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23560" y="23317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Flame = 1?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Dist &lt; 20cm?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315968" y="248716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▶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629400" y="248716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3C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▶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572000" y="3063240"/>
            <a:ext cx="1920240" cy="594360"/>
          </a:xfrm>
          <a:prstGeom prst="rect">
            <a:avLst/>
          </a:prstGeom>
          <a:solidFill>
            <a:srgbClr val="3D1515"/>
          </a:solidFill>
          <a:ln w="9525">
            <a:solidFill>
              <a:srgbClr val="E24B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0" y="30632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FLAME: Pump ON + Buzzer 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OBSTACLE: Reverse → Turn Right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675120" y="3063240"/>
            <a:ext cx="1737360" cy="594360"/>
          </a:xfrm>
          <a:prstGeom prst="rect">
            <a:avLst/>
          </a:prstGeom>
          <a:solidFill>
            <a:srgbClr val="153D15"/>
          </a:solidFill>
          <a:ln w="9525">
            <a:solidFill>
              <a:srgbClr val="63C92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75120" y="306324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3C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Forward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3C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patrol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389120" y="37490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↺ Repeats every 150 ms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0F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EDE8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BROWSER UI BREAKDOWN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+ Web Serial API — Chrome / Edge on laptop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274320"/>
            <a:ext cx="45720" cy="502920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325880"/>
            <a:ext cx="4206240" cy="621792"/>
          </a:xfrm>
          <a:prstGeom prst="rect">
            <a:avLst/>
          </a:prstGeom>
          <a:solidFill>
            <a:srgbClr val="1E1D1B"/>
          </a:solidFill>
          <a:ln w="6350">
            <a:solidFill>
              <a:srgbClr val="4A90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25880"/>
            <a:ext cx="45720" cy="62179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5331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90D9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Connect Screen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5727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Baud rate selector (9600–115200). requestPort() opens COM port. Spinner during handshake.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2057400"/>
            <a:ext cx="4206240" cy="621792"/>
          </a:xfrm>
          <a:prstGeom prst="rect">
            <a:avLst/>
          </a:prstGeom>
          <a:solidFill>
            <a:srgbClr val="1E1D1B"/>
          </a:solidFill>
          <a:ln w="6350">
            <a:solidFill>
              <a:srgbClr val="E24B4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2057400"/>
            <a:ext cx="45720" cy="621792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08483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4B4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D-Pad Controls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230428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Pointer + keyboard events (↑↓←→ Space). Sends on press, stops on release. No command flooding.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2788920"/>
            <a:ext cx="4206240" cy="621792"/>
          </a:xfrm>
          <a:prstGeom prst="rect">
            <a:avLst/>
          </a:prstGeom>
          <a:solidFill>
            <a:srgbClr val="1E1D1B"/>
          </a:solidFill>
          <a:ln w="6350">
            <a:solidFill>
              <a:srgbClr val="EF9F2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45720" cy="621792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81635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9F27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Speed Slider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30358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PWM 0–255 range input. Sends SPD:N on every change. Live % and PWM display.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3520440"/>
            <a:ext cx="4206240" cy="621792"/>
          </a:xfrm>
          <a:prstGeom prst="rect">
            <a:avLst/>
          </a:prstGeom>
          <a:solidFill>
            <a:srgbClr val="1E1D1B"/>
          </a:solidFill>
          <a:ln w="6350">
            <a:solidFill>
              <a:srgbClr val="63C92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3520440"/>
            <a:ext cx="45720" cy="621792"/>
          </a:xfrm>
          <a:prstGeom prst="rect">
            <a:avLst/>
          </a:prstGeom>
          <a:solidFill>
            <a:srgbClr val="63C920"/>
          </a:solidFill>
          <a:ln w="12700">
            <a:solidFill>
              <a:srgbClr val="63C92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54787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3C92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Sensor Panel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37673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parses FLAME / TEMP / DIST from each incoming line. Alert banner on flame.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4251960"/>
            <a:ext cx="4206240" cy="621792"/>
          </a:xfrm>
          <a:prstGeom prst="rect">
            <a:avLst/>
          </a:prstGeom>
          <a:solidFill>
            <a:srgbClr val="1E1D1B"/>
          </a:solidFill>
          <a:ln w="6350">
            <a:solidFill>
              <a:srgbClr val="88878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4251960"/>
            <a:ext cx="45720" cy="621792"/>
          </a:xfrm>
          <a:prstGeom prst="rect">
            <a:avLst/>
          </a:prstGeom>
          <a:solidFill>
            <a:srgbClr val="888780"/>
          </a:solidFill>
          <a:ln w="12700">
            <a:solidFill>
              <a:srgbClr val="88878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427939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78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Serial Monitor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44988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200-line rolling log. TX in red, RX in green. TX/RX counters. Autoscroll toggle.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846320" y="1280160"/>
            <a:ext cx="3931920" cy="3566160"/>
          </a:xfrm>
          <a:prstGeom prst="rect">
            <a:avLst/>
          </a:prstGeom>
          <a:solidFill>
            <a:srgbClr val="1E1D1B"/>
          </a:solidFill>
          <a:ln w="9525">
            <a:solidFill>
              <a:srgbClr val="EF9F2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46320" y="1280160"/>
            <a:ext cx="3931920" cy="411480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12801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0F0E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⚠  KEY FIXES IN THIS VERSION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983480" y="1828800"/>
            <a:ext cx="3657600" cy="530352"/>
          </a:xfrm>
          <a:prstGeom prst="rect">
            <a:avLst/>
          </a:prstGeom>
          <a:solidFill>
            <a:srgbClr val="222220"/>
          </a:solidFill>
          <a:ln w="12700">
            <a:solidFill>
              <a:srgbClr val="22222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74920" y="184708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4B4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✖ Writer Lock Bug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074920" y="2048256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3C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Single persistent writer held open. No getWriter() per command.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983480" y="2404872"/>
            <a:ext cx="3657600" cy="530352"/>
          </a:xfrm>
          <a:prstGeom prst="rect">
            <a:avLst/>
          </a:prstGeom>
          <a:solidFill>
            <a:srgbClr val="222220"/>
          </a:solidFill>
          <a:ln w="12700">
            <a:solidFill>
              <a:srgbClr val="22222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74920" y="242316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4B4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✖ Key Repeat Flooding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074920" y="262432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3C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heldKeys Set prevents duplicate sends while key is held down.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983480" y="2980944"/>
            <a:ext cx="3657600" cy="530352"/>
          </a:xfrm>
          <a:prstGeom prst="rect">
            <a:avLst/>
          </a:prstGeom>
          <a:solidFill>
            <a:srgbClr val="222220"/>
          </a:solidFill>
          <a:ln w="12700">
            <a:solidFill>
              <a:srgbClr val="22222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74920" y="299923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4B4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✖ No Auto-Stop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074920" y="320040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3C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beforeunload event sends 'S' when tab/window is closed.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983480" y="3557016"/>
            <a:ext cx="3657600" cy="530352"/>
          </a:xfrm>
          <a:prstGeom prst="rect">
            <a:avLst/>
          </a:prstGeom>
          <a:solidFill>
            <a:srgbClr val="222220"/>
          </a:solidFill>
          <a:ln w="12700">
            <a:solidFill>
              <a:srgbClr val="22222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74920" y="357530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4B4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✖ Disconnection Crash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074920" y="377647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3C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Read-loop catch shows reconnect overlay instead of silent fail.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983480" y="4133088"/>
            <a:ext cx="3657600" cy="530352"/>
          </a:xfrm>
          <a:prstGeom prst="rect">
            <a:avLst/>
          </a:prstGeom>
          <a:solidFill>
            <a:srgbClr val="222220"/>
          </a:solidFill>
          <a:ln w="12700">
            <a:solidFill>
              <a:srgbClr val="22222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74920" y="415137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4B4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✖ Hardcoded Baud Rate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074920" y="435254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3C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Dropdown selector: 9600 / 19200 / 38400 / 57600 / 115200.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0F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EDE8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PIN MAP &amp; WIRING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Nano / Uno — connect these before uploading the sketch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274320"/>
            <a:ext cx="45720" cy="502920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280160"/>
            <a:ext cx="2743200" cy="3182112"/>
          </a:xfrm>
          <a:prstGeom prst="rect">
            <a:avLst/>
          </a:prstGeom>
          <a:solidFill>
            <a:srgbClr val="1E1D1B"/>
          </a:solidFill>
          <a:ln w="9525">
            <a:solidFill>
              <a:srgbClr val="E24B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80160"/>
            <a:ext cx="2743200" cy="384048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8016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0F0E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Motor Driver (L298N)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755648"/>
            <a:ext cx="2560320" cy="347472"/>
          </a:xfrm>
          <a:prstGeom prst="rect">
            <a:avLst/>
          </a:prstGeom>
          <a:solidFill>
            <a:srgbClr val="222220"/>
          </a:solidFill>
          <a:ln w="12700">
            <a:solidFill>
              <a:srgbClr val="222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79222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4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280160" y="179222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F9F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4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029968" y="1792224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motor dir A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57200" y="2176272"/>
            <a:ext cx="2560320" cy="347472"/>
          </a:xfrm>
          <a:prstGeom prst="rect">
            <a:avLst/>
          </a:prstGeom>
          <a:solidFill>
            <a:srgbClr val="1E1D1B"/>
          </a:solidFill>
          <a:ln w="12700">
            <a:solidFill>
              <a:srgbClr val="1E1D1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21284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4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280160" y="221284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F9F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5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029968" y="221284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motor dir B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57200" y="2596896"/>
            <a:ext cx="2560320" cy="347472"/>
          </a:xfrm>
          <a:prstGeom prst="rect">
            <a:avLst/>
          </a:prstGeom>
          <a:solidFill>
            <a:srgbClr val="222220"/>
          </a:solidFill>
          <a:ln w="12700">
            <a:solidFill>
              <a:srgbClr val="2222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63347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4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280160" y="263347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F9F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6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029968" y="263347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motor dir A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57200" y="3017520"/>
            <a:ext cx="2560320" cy="347472"/>
          </a:xfrm>
          <a:prstGeom prst="rect">
            <a:avLst/>
          </a:prstGeom>
          <a:solidFill>
            <a:srgbClr val="1E1D1B"/>
          </a:solidFill>
          <a:ln w="12700">
            <a:solidFill>
              <a:srgbClr val="1E1D1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05409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4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280160" y="305409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F9F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7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029968" y="3054096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motor dir B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57200" y="3438144"/>
            <a:ext cx="2560320" cy="347472"/>
          </a:xfrm>
          <a:prstGeom prst="rect">
            <a:avLst/>
          </a:prstGeom>
          <a:solidFill>
            <a:srgbClr val="222220"/>
          </a:solidFill>
          <a:ln w="12700">
            <a:solidFill>
              <a:srgbClr val="22222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4747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4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ENA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280160" y="34747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F9F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10 (PWM)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029968" y="347472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speed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57200" y="3858768"/>
            <a:ext cx="2560320" cy="347472"/>
          </a:xfrm>
          <a:prstGeom prst="rect">
            <a:avLst/>
          </a:prstGeom>
          <a:solidFill>
            <a:srgbClr val="1E1D1B"/>
          </a:solidFill>
          <a:ln w="12700">
            <a:solidFill>
              <a:srgbClr val="1E1D1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389534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4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ENB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280160" y="389534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F9F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11 (PWM)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029968" y="3895344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speed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3246120" y="1280160"/>
            <a:ext cx="2743200" cy="2304288"/>
          </a:xfrm>
          <a:prstGeom prst="rect">
            <a:avLst/>
          </a:prstGeom>
          <a:solidFill>
            <a:srgbClr val="1E1D1B"/>
          </a:solidFill>
          <a:ln w="9525">
            <a:solidFill>
              <a:srgbClr val="4A90D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246120" y="1280160"/>
            <a:ext cx="2743200" cy="38404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46120" y="128016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0F0E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Sensors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337560" y="1755648"/>
            <a:ext cx="2560320" cy="347472"/>
          </a:xfrm>
          <a:prstGeom prst="rect">
            <a:avLst/>
          </a:prstGeom>
          <a:solidFill>
            <a:srgbClr val="222220"/>
          </a:solidFill>
          <a:ln w="12700">
            <a:solidFill>
              <a:srgbClr val="22222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383280" y="179222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90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Flame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160520" y="179222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F9F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8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910328" y="1792224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— LOW=fire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3337560" y="2176272"/>
            <a:ext cx="2560320" cy="347472"/>
          </a:xfrm>
          <a:prstGeom prst="rect">
            <a:avLst/>
          </a:prstGeom>
          <a:solidFill>
            <a:srgbClr val="1E1D1B"/>
          </a:solidFill>
          <a:ln w="12700">
            <a:solidFill>
              <a:srgbClr val="1E1D1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383280" y="221284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90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Trig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160520" y="221284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F9F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12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910328" y="221284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HC-SR04 trigger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3337560" y="2596896"/>
            <a:ext cx="2560320" cy="347472"/>
          </a:xfrm>
          <a:prstGeom prst="rect">
            <a:avLst/>
          </a:prstGeom>
          <a:solidFill>
            <a:srgbClr val="222220"/>
          </a:solidFill>
          <a:ln w="12700">
            <a:solidFill>
              <a:srgbClr val="22222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383280" y="263347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90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160520" y="263347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F9F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13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910328" y="263347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HC-SR04 echo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3337560" y="3017520"/>
            <a:ext cx="2560320" cy="347472"/>
          </a:xfrm>
          <a:prstGeom prst="rect">
            <a:avLst/>
          </a:prstGeom>
          <a:solidFill>
            <a:srgbClr val="1E1D1B"/>
          </a:solidFill>
          <a:ln w="12700">
            <a:solidFill>
              <a:srgbClr val="1E1D1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383280" y="305409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90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DHT11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160520" y="305409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F9F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3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910328" y="3054096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 sensor data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6126480" y="1280160"/>
            <a:ext cx="2743200" cy="2304288"/>
          </a:xfrm>
          <a:prstGeom prst="rect">
            <a:avLst/>
          </a:prstGeom>
          <a:solidFill>
            <a:srgbClr val="1E1D1B"/>
          </a:solidFill>
          <a:ln w="9525">
            <a:solidFill>
              <a:srgbClr val="63C92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6126480" y="1280160"/>
            <a:ext cx="2743200" cy="384048"/>
          </a:xfrm>
          <a:prstGeom prst="rect">
            <a:avLst/>
          </a:prstGeom>
          <a:solidFill>
            <a:srgbClr val="63C920"/>
          </a:solidFill>
          <a:ln w="12700">
            <a:solidFill>
              <a:srgbClr val="63C92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126480" y="128016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0F0E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Actuators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6217920" y="1755648"/>
            <a:ext cx="2560320" cy="347472"/>
          </a:xfrm>
          <a:prstGeom prst="rect">
            <a:avLst/>
          </a:prstGeom>
          <a:solidFill>
            <a:srgbClr val="222220"/>
          </a:solidFill>
          <a:ln w="12700">
            <a:solidFill>
              <a:srgbClr val="22222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263640" y="179222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3C9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Pump relay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7040880" y="179222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F9F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A0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7790688" y="1792224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pump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6217920" y="2176272"/>
            <a:ext cx="2560320" cy="347472"/>
          </a:xfrm>
          <a:prstGeom prst="rect">
            <a:avLst/>
          </a:prstGeom>
          <a:solidFill>
            <a:srgbClr val="1E1D1B"/>
          </a:solidFill>
          <a:ln w="12700">
            <a:solidFill>
              <a:srgbClr val="1E1D1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263640" y="221284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3C9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Servo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7040880" y="221284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F9F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9 (PWM)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7790688" y="221284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Nozzle servo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6217920" y="2596896"/>
            <a:ext cx="2560320" cy="347472"/>
          </a:xfrm>
          <a:prstGeom prst="rect">
            <a:avLst/>
          </a:prstGeom>
          <a:solidFill>
            <a:srgbClr val="222220"/>
          </a:solidFill>
          <a:ln w="12700">
            <a:solidFill>
              <a:srgbClr val="22222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263640" y="263347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3C9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Buzzer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7040880" y="263347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F9F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A1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7790688" y="263347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6217920" y="3017520"/>
            <a:ext cx="2560320" cy="347472"/>
          </a:xfrm>
          <a:prstGeom prst="rect">
            <a:avLst/>
          </a:prstGeom>
          <a:solidFill>
            <a:srgbClr val="1E1D1B"/>
          </a:solidFill>
          <a:ln w="12700">
            <a:solidFill>
              <a:srgbClr val="1E1D1B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263640" y="305409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3C9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LEDs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7040880" y="305409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F9F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A2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7790688" y="3054096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Headlights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365760" y="4434840"/>
            <a:ext cx="8412480" cy="502920"/>
          </a:xfrm>
          <a:prstGeom prst="rect">
            <a:avLst/>
          </a:prstGeom>
          <a:solidFill>
            <a:srgbClr val="222220"/>
          </a:solidFill>
          <a:ln w="6350">
            <a:solidFill>
              <a:srgbClr val="E24B4A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02920" y="445312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HC-05 → Arduino RX (pin 0) &amp; TX (pin 1) via 5V↔3.3V voltage divider.  UNPLUG HC-05 before uploading sketch — it shares the hardware Serial port!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0F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EDE8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HOW TO RUN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setup from zero to driving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274320"/>
            <a:ext cx="45720" cy="502920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280160"/>
            <a:ext cx="2651760" cy="1645920"/>
          </a:xfrm>
          <a:prstGeom prst="rect">
            <a:avLst/>
          </a:prstGeom>
          <a:solidFill>
            <a:srgbClr val="1E1D1B"/>
          </a:solidFill>
          <a:ln w="9525">
            <a:solidFill>
              <a:srgbClr val="4A90D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89888"/>
            <a:ext cx="411480" cy="411480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898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0F0E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60120" y="14173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90D9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Install Libraries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901952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Arduino IDE: Sketch → Manage Libraries → Install 'DHT sensor library' by Adafruit. Servo is built-in.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91840" y="1280160"/>
            <a:ext cx="2651760" cy="1645920"/>
          </a:xfrm>
          <a:prstGeom prst="rect">
            <a:avLst/>
          </a:prstGeom>
          <a:solidFill>
            <a:srgbClr val="1E1D1B"/>
          </a:solidFill>
          <a:ln w="9525">
            <a:solidFill>
              <a:srgbClr val="EF9F2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83280" y="1389888"/>
            <a:ext cx="411480" cy="411480"/>
          </a:xfrm>
          <a:prstGeom prst="ellipse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13898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0F0E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86200" y="14173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F9F27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Upload Sketch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29000" y="1901952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Unplug HC-05 TX/RX wires. Open firebot_arduino.ino, select correct board &amp; port, click Upload. Replug HC-05.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17920" y="1280160"/>
            <a:ext cx="2651760" cy="1645920"/>
          </a:xfrm>
          <a:prstGeom prst="rect">
            <a:avLst/>
          </a:prstGeom>
          <a:solidFill>
            <a:srgbClr val="1E1D1B"/>
          </a:solidFill>
          <a:ln w="9525">
            <a:solidFill>
              <a:srgbClr val="E24B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09360" y="1389888"/>
            <a:ext cx="411480" cy="411480"/>
          </a:xfrm>
          <a:prstGeom prst="ellipse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13898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0F0E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12280" y="14173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4B4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Pair Bluetooth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55080" y="1901952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Settings → Bluetooth → Add device → Select HC-05. Default PIN: 1234 or 0000. Note the COM port assigned.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200400"/>
            <a:ext cx="2651760" cy="1645920"/>
          </a:xfrm>
          <a:prstGeom prst="rect">
            <a:avLst/>
          </a:prstGeom>
          <a:solidFill>
            <a:srgbClr val="1E1D1B"/>
          </a:solidFill>
          <a:ln w="9525">
            <a:solidFill>
              <a:srgbClr val="63C92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310128"/>
            <a:ext cx="411480" cy="411480"/>
          </a:xfrm>
          <a:prstGeom prst="ellipse">
            <a:avLst/>
          </a:prstGeom>
          <a:solidFill>
            <a:srgbClr val="63C920"/>
          </a:solidFill>
          <a:ln w="12700">
            <a:solidFill>
              <a:srgbClr val="63C92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3101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0F0E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60120" y="33375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3C92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Open HTML Controller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" y="3822192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firebot_bluetooth.html in Chrome or Edge. Click 'Connect via Bluetooth', select the HC-05 COM port.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91840" y="3200400"/>
            <a:ext cx="5669280" cy="1645920"/>
          </a:xfrm>
          <a:prstGeom prst="rect">
            <a:avLst/>
          </a:prstGeom>
          <a:solidFill>
            <a:srgbClr val="1E1D1B"/>
          </a:solidFill>
          <a:ln w="9525">
            <a:solidFill>
              <a:srgbClr val="EF9F2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383280" y="3310128"/>
            <a:ext cx="411480" cy="411480"/>
          </a:xfrm>
          <a:prstGeom prst="ellipse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83280" y="33101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0F0E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886200" y="333756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F9F27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Control!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429000" y="3822192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D-pad, keyboard arrows, speed slider, pump and extras. Watch sensor data update live in the UI.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0F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" cy="5143500"/>
          </a:xfrm>
          <a:prstGeom prst="rect">
            <a:avLst/>
          </a:prstGeom>
          <a:solidFill>
            <a:srgbClr val="E24B4A">
              <a:alpha val="6000"/>
            </a:srgbClr>
          </a:solidFill>
          <a:ln w="12700">
            <a:solidFill>
              <a:srgbClr val="E24B4A">
                <a:alpha val="6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4572" cy="5143500"/>
          </a:xfrm>
          <a:prstGeom prst="rect">
            <a:avLst/>
          </a:prstGeom>
          <a:solidFill>
            <a:srgbClr val="E24B4A">
              <a:alpha val="6000"/>
            </a:srgbClr>
          </a:solidFill>
          <a:ln w="12700">
            <a:solidFill>
              <a:srgbClr val="E24B4A">
                <a:alpha val="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4572" cy="5143500"/>
          </a:xfrm>
          <a:prstGeom prst="rect">
            <a:avLst/>
          </a:prstGeom>
          <a:solidFill>
            <a:srgbClr val="E24B4A">
              <a:alpha val="6000"/>
            </a:srgbClr>
          </a:solidFill>
          <a:ln w="12700">
            <a:solidFill>
              <a:srgbClr val="E24B4A">
                <a:alpha val="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4572" cy="5143500"/>
          </a:xfrm>
          <a:prstGeom prst="rect">
            <a:avLst/>
          </a:prstGeom>
          <a:solidFill>
            <a:srgbClr val="E24B4A">
              <a:alpha val="6000"/>
            </a:srgbClr>
          </a:solidFill>
          <a:ln w="12700">
            <a:solidFill>
              <a:srgbClr val="E24B4A">
                <a:alpha val="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4572" cy="5143500"/>
          </a:xfrm>
          <a:prstGeom prst="rect">
            <a:avLst/>
          </a:prstGeom>
          <a:solidFill>
            <a:srgbClr val="E24B4A">
              <a:alpha val="6000"/>
            </a:srgbClr>
          </a:solidFill>
          <a:ln w="12700">
            <a:solidFill>
              <a:srgbClr val="E24B4A">
                <a:alpha val="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4572" cy="5143500"/>
          </a:xfrm>
          <a:prstGeom prst="rect">
            <a:avLst/>
          </a:prstGeom>
          <a:solidFill>
            <a:srgbClr val="E24B4A">
              <a:alpha val="6000"/>
            </a:srgbClr>
          </a:solidFill>
          <a:ln w="12700">
            <a:solidFill>
              <a:srgbClr val="E24B4A">
                <a:alpha val="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0"/>
            <a:ext cx="4572" cy="5143500"/>
          </a:xfrm>
          <a:prstGeom prst="rect">
            <a:avLst/>
          </a:prstGeom>
          <a:solidFill>
            <a:srgbClr val="E24B4A">
              <a:alpha val="6000"/>
            </a:srgbClr>
          </a:solidFill>
          <a:ln w="12700">
            <a:solidFill>
              <a:srgbClr val="E24B4A">
                <a:alpha val="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0"/>
            <a:ext cx="4572" cy="5143500"/>
          </a:xfrm>
          <a:prstGeom prst="rect">
            <a:avLst/>
          </a:prstGeom>
          <a:solidFill>
            <a:srgbClr val="E24B4A">
              <a:alpha val="6000"/>
            </a:srgbClr>
          </a:solidFill>
          <a:ln w="12700">
            <a:solidFill>
              <a:srgbClr val="E24B4A">
                <a:alpha val="6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0"/>
            <a:ext cx="4572" cy="5143500"/>
          </a:xfrm>
          <a:prstGeom prst="rect">
            <a:avLst/>
          </a:prstGeom>
          <a:solidFill>
            <a:srgbClr val="E24B4A">
              <a:alpha val="6000"/>
            </a:srgbClr>
          </a:solidFill>
          <a:ln w="12700">
            <a:solidFill>
              <a:srgbClr val="E24B4A">
                <a:alpha val="6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0"/>
            <a:ext cx="4572" cy="5143500"/>
          </a:xfrm>
          <a:prstGeom prst="rect">
            <a:avLst/>
          </a:prstGeom>
          <a:solidFill>
            <a:srgbClr val="E24B4A">
              <a:alpha val="6000"/>
            </a:srgbClr>
          </a:solidFill>
          <a:ln w="12700">
            <a:solidFill>
              <a:srgbClr val="E24B4A">
                <a:alpha val="6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spc="600" kern="0" dirty="0">
                <a:solidFill>
                  <a:srgbClr val="F0EDE8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SUMMARY</a:t>
            </a:r>
            <a:endParaRPr lang="en-US" sz="3600" dirty="0"/>
          </a:p>
        </p:txBody>
      </p:sp>
      <p:sp>
        <p:nvSpPr>
          <p:cNvPr id="13" name="Shape 11"/>
          <p:cNvSpPr/>
          <p:nvPr/>
        </p:nvSpPr>
        <p:spPr>
          <a:xfrm>
            <a:off x="548640" y="1005840"/>
            <a:ext cx="1828800" cy="1463040"/>
          </a:xfrm>
          <a:prstGeom prst="rect">
            <a:avLst/>
          </a:prstGeom>
          <a:solidFill>
            <a:srgbClr val="1E1D1B"/>
          </a:solidFill>
          <a:ln w="9525">
            <a:solidFill>
              <a:srgbClr val="E24B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8640" y="10972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E24B4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6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548640" y="17830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606040" y="1005840"/>
            <a:ext cx="1828800" cy="1463040"/>
          </a:xfrm>
          <a:prstGeom prst="rect">
            <a:avLst/>
          </a:prstGeom>
          <a:solidFill>
            <a:srgbClr val="1E1D1B"/>
          </a:solidFill>
          <a:ln w="9525">
            <a:solidFill>
              <a:srgbClr val="EF9F2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606040" y="10972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EF9F27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3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2606040" y="17830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Sensors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Streamed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1005840"/>
            <a:ext cx="1828800" cy="1463040"/>
          </a:xfrm>
          <a:prstGeom prst="rect">
            <a:avLst/>
          </a:prstGeom>
          <a:solidFill>
            <a:srgbClr val="1E1D1B"/>
          </a:solidFill>
          <a:ln w="9525">
            <a:solidFill>
              <a:srgbClr val="4A90D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663440" y="10972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4A90D9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500ms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4663440" y="17830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 Rate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720840" y="1005840"/>
            <a:ext cx="1828800" cy="1463040"/>
          </a:xfrm>
          <a:prstGeom prst="rect">
            <a:avLst/>
          </a:prstGeom>
          <a:solidFill>
            <a:srgbClr val="1E1D1B"/>
          </a:solidFill>
          <a:ln w="9525">
            <a:solidFill>
              <a:srgbClr val="63C92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720840" y="10972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63C92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9600</a:t>
            </a:r>
            <a:endParaRPr lang="en-US" sz="4000" dirty="0"/>
          </a:p>
        </p:txBody>
      </p:sp>
      <p:sp>
        <p:nvSpPr>
          <p:cNvPr id="24" name="Text 22"/>
          <p:cNvSpPr/>
          <p:nvPr/>
        </p:nvSpPr>
        <p:spPr>
          <a:xfrm>
            <a:off x="6720840" y="17830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HC-05 Baud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(default)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2606040"/>
            <a:ext cx="8412480" cy="2194560"/>
          </a:xfrm>
          <a:prstGeom prst="rect">
            <a:avLst/>
          </a:prstGeom>
          <a:solidFill>
            <a:srgbClr val="1E1D1B"/>
          </a:solidFill>
          <a:ln w="6350">
            <a:solidFill>
              <a:srgbClr val="22222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2670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88878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KEY TAKEAWAYS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02920" y="3017520"/>
            <a:ext cx="164592" cy="164592"/>
          </a:xfrm>
          <a:prstGeom prst="ellipse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7240" y="299923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Serial API replaces native apps — full Bluetooth control in a browser tab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02920" y="3364992"/>
            <a:ext cx="164592" cy="164592"/>
          </a:xfrm>
          <a:prstGeom prst="ellipse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" y="3346704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persistent writer eliminates lock contention bugs on rapid command send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02920" y="3712464"/>
            <a:ext cx="164592" cy="164592"/>
          </a:xfrm>
          <a:prstGeom prst="ellipse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7240" y="369417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broadcasts sensor telemetry every 500 ms — UI parses with regex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02920" y="4059936"/>
            <a:ext cx="164592" cy="164592"/>
          </a:xfrm>
          <a:prstGeom prst="ellipse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7240" y="404164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mode handles obstacle avoidance + fire suppression without UI input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02920" y="4407408"/>
            <a:ext cx="164592" cy="164592"/>
          </a:xfrm>
          <a:prstGeom prst="ellipse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77240" y="43891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Auto-stop on page close ensures robot never drives away if tab crashes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FireBot — Bluetooth Fire Fighting Robot  |  Arduino + HC-05 + Web Serial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FireBot — Bluetooth Fire Fighting Robot</dc:title>
  <dc:subject>PptxGenJS Presentation</dc:subject>
  <dc:creator>PptxGenJS</dc:creator>
  <cp:lastModifiedBy>PptxGenJS</cp:lastModifiedBy>
  <cp:revision>1</cp:revision>
  <dcterms:created xsi:type="dcterms:W3CDTF">2026-04-25T09:02:09Z</dcterms:created>
  <dcterms:modified xsi:type="dcterms:W3CDTF">2026-04-25T09:02:09Z</dcterms:modified>
</cp:coreProperties>
</file>